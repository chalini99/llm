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7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E840-EC9B-50E7-9221-B16976FF9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3CA6FA-C70A-667D-C7E7-A82796197A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E1E4F-A729-0309-6940-626AE836B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B26257-FB0D-DABA-63A0-3A161426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39851-3B66-7B19-CB58-1AD77C46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451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FD68-9C59-059B-B9F3-F0C0B9FA4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62BFD-060D-8418-E17A-3677B320B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BB280-9004-FA1A-71CA-8207B030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316A1-340A-4706-2656-E18CE24C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3C428-6072-65E7-0987-DE09C28C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442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DE68A-FFB5-BA4F-0FFF-53696777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FB62A-7A2B-E118-9C3E-E198038E6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FBEDA-C59C-B76D-3B2D-D69F03CA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BA0BC-9BA1-FAF3-9F96-271B4F902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7CECD-77FB-C898-C299-7FA42F06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322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FF40-A611-DDDD-1D30-F4139358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387BB-E9B8-8FA5-FA99-8D0977205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305D5-2D35-A0C6-7D83-C13661ECA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C3053-8245-C020-7AFD-01578847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011B2-6E54-F405-216D-7B575B9D7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5042F-F334-ED89-1604-5DEC24CB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58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251D-E111-6D9E-23A4-575CCC5C4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C49F0-ACB0-DE2E-2D92-1C2FB57EE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5638F-4BEE-D949-B11C-3A0B20DF73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9378BE-3AB7-5C41-DEE0-C4EBA44DE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BE335-384D-5FE7-D6E9-B255344E09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FECC8-EADA-8AB9-77D4-45615930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96A7BD-7A08-C48D-A749-B720562AE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0FA4BD-125E-4902-10C6-86FCB145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59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E06C-6C05-CF44-1975-D879D4011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8A277-0FEF-BA99-01BD-606FD774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FE04B9-AA61-C46C-96AB-9A374DA2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F50AD-5C88-58AB-6DE5-C058C5F54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069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A917DB-9D59-E21A-A122-F8E32544D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6D7E2-ADA6-21DC-2BC7-8809BC907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D5A3E-8E7B-FD00-B49E-75E96EC4C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365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59327-4891-6AE2-3F6E-270FFFC6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6BC1C-1658-ECF4-5708-ADD6CBF04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E7AC4-C1C6-918E-D6D3-EDE567C82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7A2C7-42F5-4F0F-7CCA-1D03FB951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D16EA-0A30-6CF6-FD56-C7E7F3EC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8418D-A330-2656-8394-1CB98380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25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089F-CD7D-6F7A-1657-D693FAB2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9E3E0-B269-9ECC-E439-853DF1738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D60E82-563A-0DD1-D407-D896E1B89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484F7-004D-65F8-DB53-3257599A4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DDE25-AC18-28A3-ED46-AA3C1531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EB435-3F28-E098-A9FB-2FC31FACB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59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8C3B-791E-0040-AB8A-149468A44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E2A407-F802-8615-12E4-F1938B73E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39FA6-B19A-B277-6E13-DD3F69906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D49B0-4B4F-2522-FDE6-673FD6ED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B3195-990E-8F6D-D9D0-B9E03674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08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517CF-296E-3272-C857-084032EFC8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C00AA-44B7-E4AE-F15A-07B12C501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21C9B-AB83-0F93-BE9B-FB315DCDE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34A28-5049-2113-FC7C-A887F57DC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E2F25-2377-BB25-5EDB-133B64ECE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8996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C05CD-9896-D8C9-14F9-252E74F62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8A9977-522D-AFA6-8E48-6738341C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09E1D-08DA-84D1-2AD2-8797592EC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FA294D-38C9-4153-900F-43C5D29486A8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B3FF69-9EAB-7744-6978-0C5A6A590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6B6A5-FC82-3DA3-E7D2-28145DB9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F262F-5AAF-4E5F-8048-7D99D92CDAE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06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nlp/self-attention-in-nlp/" TargetMode="External"/><Relationship Id="rId2" Type="http://schemas.openxmlformats.org/officeDocument/2006/relationships/hyperlink" Target="https://www.geeksforgeeks.org/machine-learning/getting-started-with-transformer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jpeg"/><Relationship Id="rId4" Type="http://schemas.openxmlformats.org/officeDocument/2006/relationships/hyperlink" Target="https://www.geeksforgeeks.org/nlp/encoder-decoder-models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3BDB-277F-18C2-7FC7-51EC4DE68C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Architecture and Working of Transformers in Deep Learning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DBDAC5-ED1A-200D-2DFD-9212D77D09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Module 2</a:t>
            </a:r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EAB93EAA-27DC-8FDB-C604-DFA4F74EC6D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85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4F20A-D89A-CE93-D7A5-5FC0EBA05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2D80-10A9-67FF-7886-CB0726CB0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fontAlgn="base"/>
            <a:r>
              <a:rPr lang="en-GB" u="sng" dirty="0">
                <a:hlinkClick r:id="rId2"/>
              </a:rPr>
              <a:t>Transformers</a:t>
            </a:r>
            <a:r>
              <a:rPr lang="en-GB" dirty="0"/>
              <a:t> are a type of deep learning model that utilizes </a:t>
            </a:r>
            <a:r>
              <a:rPr lang="en-GB" u="sng" dirty="0">
                <a:hlinkClick r:id="rId3"/>
              </a:rPr>
              <a:t>self-attention mechanisms</a:t>
            </a:r>
            <a:r>
              <a:rPr lang="en-GB" dirty="0"/>
              <a:t> to process and generate sequences of data efficiently. </a:t>
            </a:r>
          </a:p>
          <a:p>
            <a:pPr algn="just" fontAlgn="base"/>
            <a:r>
              <a:rPr lang="en-GB" dirty="0"/>
              <a:t>They capture </a:t>
            </a:r>
            <a:r>
              <a:rPr lang="en-GB" dirty="0">
                <a:solidFill>
                  <a:srgbClr val="FF0000"/>
                </a:solidFill>
              </a:rPr>
              <a:t>long-range dependencies </a:t>
            </a:r>
            <a:r>
              <a:rPr lang="en-GB" dirty="0"/>
              <a:t>and </a:t>
            </a:r>
            <a:r>
              <a:rPr lang="en-GB" dirty="0">
                <a:solidFill>
                  <a:srgbClr val="FF0000"/>
                </a:solidFill>
              </a:rPr>
              <a:t>contextual relationships </a:t>
            </a:r>
            <a:r>
              <a:rPr lang="en-GB" dirty="0"/>
              <a:t>making them highly effective for tasks like </a:t>
            </a:r>
            <a:r>
              <a:rPr lang="en-GB" dirty="0">
                <a:solidFill>
                  <a:srgbClr val="FF0000"/>
                </a:solidFill>
              </a:rPr>
              <a:t>language </a:t>
            </a:r>
            <a:r>
              <a:rPr lang="en-GB" dirty="0" err="1">
                <a:solidFill>
                  <a:srgbClr val="FF0000"/>
                </a:solidFill>
              </a:rPr>
              <a:t>modeling</a:t>
            </a:r>
            <a:r>
              <a:rPr lang="en-GB" dirty="0">
                <a:solidFill>
                  <a:srgbClr val="FF0000"/>
                </a:solidFill>
              </a:rPr>
              <a:t>, machine translation and text generation.</a:t>
            </a:r>
          </a:p>
          <a:p>
            <a:pPr algn="just" fontAlgn="base"/>
            <a:r>
              <a:rPr lang="en-GB" dirty="0"/>
              <a:t> Transformer model is built on </a:t>
            </a:r>
            <a:r>
              <a:rPr lang="en-GB" u="sng" dirty="0">
                <a:hlinkClick r:id="rId4"/>
              </a:rPr>
              <a:t>encoder-decoder</a:t>
            </a:r>
            <a:r>
              <a:rPr lang="en-GB" dirty="0"/>
              <a:t> architecture where both the encoder and decoder are composed of a </a:t>
            </a:r>
            <a:r>
              <a:rPr lang="en-GB" dirty="0">
                <a:solidFill>
                  <a:srgbClr val="FF0000"/>
                </a:solidFill>
              </a:rPr>
              <a:t>series of layers </a:t>
            </a:r>
            <a:r>
              <a:rPr lang="en-GB" dirty="0"/>
              <a:t>that utilize </a:t>
            </a:r>
            <a:r>
              <a:rPr lang="en-GB" dirty="0">
                <a:solidFill>
                  <a:srgbClr val="FF0000"/>
                </a:solidFill>
              </a:rPr>
              <a:t>self-attention mechanisms </a:t>
            </a:r>
            <a:r>
              <a:rPr lang="en-GB" dirty="0"/>
              <a:t>and </a:t>
            </a:r>
            <a:r>
              <a:rPr lang="en-GB" dirty="0">
                <a:solidFill>
                  <a:srgbClr val="FF0000"/>
                </a:solidFill>
              </a:rPr>
              <a:t>feed-forward neural networks</a:t>
            </a:r>
            <a:r>
              <a:rPr lang="en-GB" dirty="0"/>
              <a:t>.</a:t>
            </a:r>
          </a:p>
          <a:p>
            <a:pPr algn="just" fontAlgn="base"/>
            <a:r>
              <a:rPr lang="en-GB" dirty="0"/>
              <a:t> This architecture enables the model to process input data in parallel making it highly efficient and effective for tasks involving sequential data.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8D33BF58-D188-4556-774F-22559E4964E9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16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A934-FDFF-4631-D1DE-DABAAF39C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232D-B24A-8C36-1228-D4A0BDFCB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0FCC4-D09E-D474-74C1-CA59838F2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encoder</a:t>
            </a:r>
            <a:r>
              <a:rPr lang="en-GB" dirty="0"/>
              <a:t> processes input sequences and creates </a:t>
            </a:r>
            <a:r>
              <a:rPr lang="en-GB" dirty="0">
                <a:solidFill>
                  <a:srgbClr val="FF0000"/>
                </a:solidFill>
              </a:rPr>
              <a:t>meaningful representations.</a:t>
            </a:r>
          </a:p>
          <a:p>
            <a:pPr fontAlgn="base"/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decoder generates outputs </a:t>
            </a:r>
            <a:r>
              <a:rPr lang="en-GB" dirty="0"/>
              <a:t>based on encoder representations and </a:t>
            </a:r>
            <a:r>
              <a:rPr lang="en-GB" dirty="0">
                <a:solidFill>
                  <a:srgbClr val="FF0000"/>
                </a:solidFill>
              </a:rPr>
              <a:t>previously predicted tokens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C11B93D4-2968-473D-5915-43E10E73A05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6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B29A-1B48-2227-9952-119BB167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Sentence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4A69-1E4C-BE5E-EB3B-62551D533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0192" cy="435133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GB" dirty="0"/>
              <a:t>“The transformer model translated the English sentence ‘</a:t>
            </a:r>
            <a:r>
              <a:rPr lang="en-GB" dirty="0">
                <a:solidFill>
                  <a:srgbClr val="FF0000"/>
                </a:solidFill>
              </a:rPr>
              <a:t>How are you?</a:t>
            </a:r>
            <a:r>
              <a:rPr lang="en-GB" dirty="0"/>
              <a:t>’ into </a:t>
            </a:r>
            <a:r>
              <a:rPr lang="en-GB" dirty="0">
                <a:solidFill>
                  <a:srgbClr val="FF0000"/>
                </a:solidFill>
              </a:rPr>
              <a:t>French </a:t>
            </a:r>
            <a:r>
              <a:rPr lang="en-GB" dirty="0"/>
              <a:t>by first encoding its meaning and then decoding it into ‘</a:t>
            </a:r>
            <a:r>
              <a:rPr lang="en-GB" dirty="0">
                <a:solidFill>
                  <a:srgbClr val="FF0000"/>
                </a:solidFill>
              </a:rPr>
              <a:t>Comment </a:t>
            </a:r>
            <a:r>
              <a:rPr lang="en-GB" dirty="0" err="1">
                <a:solidFill>
                  <a:srgbClr val="FF0000"/>
                </a:solidFill>
              </a:rPr>
              <a:t>ça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va</a:t>
            </a:r>
            <a:r>
              <a:rPr lang="en-GB" dirty="0">
                <a:solidFill>
                  <a:srgbClr val="FF0000"/>
                </a:solidFill>
              </a:rPr>
              <a:t> ?’.”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6E5551-5EFE-D574-D10D-C87652CAF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068" y="279916"/>
            <a:ext cx="2380647" cy="62981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83887A-1DF8-7961-114B-493B0F9CAB9E}"/>
              </a:ext>
            </a:extLst>
          </p:cNvPr>
          <p:cNvSpPr txBox="1"/>
          <p:nvPr/>
        </p:nvSpPr>
        <p:spPr>
          <a:xfrm>
            <a:off x="7892715" y="1443841"/>
            <a:ext cx="3690326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b="1" dirty="0"/>
              <a:t>Encoder</a:t>
            </a:r>
            <a:r>
              <a:rPr lang="en-GB" dirty="0"/>
              <a:t> → Reads entire input sentence in parallel using self-attention and produces contextual embeddings.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Decoder</a:t>
            </a:r>
            <a:r>
              <a:rPr lang="en-GB" dirty="0"/>
              <a:t> → Uses: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Previously generated words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Encoder’s output representations</a:t>
            </a:r>
            <a:br>
              <a:rPr lang="en-GB" dirty="0"/>
            </a:br>
            <a:r>
              <a:rPr lang="en-GB" dirty="0"/>
              <a:t>to generate the next word step-by-step.</a:t>
            </a:r>
          </a:p>
          <a:p>
            <a:pPr>
              <a:buNone/>
            </a:pPr>
            <a:r>
              <a:rPr lang="en-GB" dirty="0"/>
              <a:t>This parallel processing and attention mechanism allow transformers to </a:t>
            </a:r>
            <a:r>
              <a:rPr lang="en-GB" dirty="0">
                <a:solidFill>
                  <a:srgbClr val="FF0000"/>
                </a:solidFill>
              </a:rPr>
              <a:t>capture long-range dependencies</a:t>
            </a:r>
            <a:r>
              <a:rPr lang="en-GB" dirty="0"/>
              <a:t> efficiently.</a:t>
            </a:r>
          </a:p>
        </p:txBody>
      </p:sp>
      <p:pic>
        <p:nvPicPr>
          <p:cNvPr id="10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8EF13E43-6F61-5BD3-BEDE-EEC7B2787CF0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48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43FE-43C1-2F77-D68F-F5D6E1CDA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are </a:t>
            </a:r>
            <a:r>
              <a:rPr lang="en-GB" b="1" dirty="0"/>
              <a:t>Long-Range Dependencies</a:t>
            </a:r>
            <a:r>
              <a:rPr lang="en-GB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4AEC-2A99-B085-0FD2-E4FA1141C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Long-range dependencies</a:t>
            </a:r>
            <a:r>
              <a:rPr lang="en-GB" dirty="0"/>
              <a:t> refer to </a:t>
            </a:r>
            <a:r>
              <a:rPr lang="en-GB" dirty="0">
                <a:solidFill>
                  <a:srgbClr val="FF0000"/>
                </a:solidFill>
              </a:rPr>
              <a:t>relationships between words (or tokens)</a:t>
            </a:r>
            <a:r>
              <a:rPr lang="en-GB" dirty="0"/>
              <a:t> that are far apart from each other in a sentence or sequence, but still depend on each other for meaning.</a:t>
            </a:r>
          </a:p>
          <a:p>
            <a:pPr marL="0" indent="0">
              <a:buNone/>
            </a:pPr>
            <a:r>
              <a:rPr lang="en-GB" b="1" dirty="0"/>
              <a:t>Simple Example</a:t>
            </a:r>
          </a:p>
          <a:p>
            <a:r>
              <a:rPr lang="en-GB" dirty="0"/>
              <a:t>Consider this sentence:</a:t>
            </a:r>
          </a:p>
          <a:p>
            <a:r>
              <a:rPr lang="en-GB" b="1" dirty="0"/>
              <a:t>“</a:t>
            </a:r>
            <a:r>
              <a:rPr lang="en-GB" dirty="0">
                <a:solidFill>
                  <a:srgbClr val="FF0000"/>
                </a:solidFill>
              </a:rPr>
              <a:t>If</a:t>
            </a:r>
            <a:r>
              <a:rPr lang="en-GB" dirty="0"/>
              <a:t> you study hard throughout the semester, even when it feels difficult and exhausting, you </a:t>
            </a:r>
            <a:r>
              <a:rPr lang="en-GB" dirty="0">
                <a:solidFill>
                  <a:srgbClr val="FF0000"/>
                </a:solidFill>
              </a:rPr>
              <a:t>will succeed</a:t>
            </a:r>
            <a:r>
              <a:rPr lang="en-GB" dirty="0"/>
              <a:t>.</a:t>
            </a:r>
            <a:r>
              <a:rPr lang="en-GB" b="1" dirty="0"/>
              <a:t>”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word </a:t>
            </a:r>
            <a:r>
              <a:rPr lang="en-GB" b="1" dirty="0"/>
              <a:t>“</a:t>
            </a:r>
            <a:r>
              <a:rPr lang="en-GB" b="1" dirty="0">
                <a:solidFill>
                  <a:srgbClr val="FF0000"/>
                </a:solidFill>
              </a:rPr>
              <a:t>If</a:t>
            </a:r>
            <a:r>
              <a:rPr lang="en-GB" b="1" dirty="0"/>
              <a:t>”</a:t>
            </a:r>
            <a:r>
              <a:rPr lang="en-GB" dirty="0"/>
              <a:t> at the beginning connects logically to </a:t>
            </a:r>
            <a:r>
              <a:rPr lang="en-GB" b="1" dirty="0"/>
              <a:t>“</a:t>
            </a:r>
            <a:r>
              <a:rPr lang="en-GB" b="1" dirty="0">
                <a:solidFill>
                  <a:srgbClr val="FF0000"/>
                </a:solidFill>
              </a:rPr>
              <a:t>will succeed</a:t>
            </a:r>
            <a:r>
              <a:rPr lang="en-GB" b="1" dirty="0"/>
              <a:t>”</a:t>
            </a:r>
            <a:r>
              <a:rPr lang="en-GB" dirty="0"/>
              <a:t> near the </a:t>
            </a:r>
            <a:r>
              <a:rPr lang="en-GB" dirty="0" err="1"/>
              <a:t>end.The</a:t>
            </a:r>
            <a:r>
              <a:rPr lang="en-GB" dirty="0"/>
              <a:t> model must understand that connection across many words.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33625537-225A-4320-4634-EA560C3EE8A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21592" y="0"/>
            <a:ext cx="4193890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72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DF67-0815-3668-8495-BFB7A332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1056"/>
            <a:ext cx="2947416" cy="99632"/>
          </a:xfrm>
        </p:spPr>
        <p:txBody>
          <a:bodyPr>
            <a:normAutofit fontScale="90000"/>
          </a:bodyPr>
          <a:lstStyle/>
          <a:p>
            <a:br>
              <a:rPr lang="en-GB" i="1" dirty="0"/>
            </a:br>
            <a:br>
              <a:rPr lang="en-GB" i="1" dirty="0"/>
            </a:br>
            <a:br>
              <a:rPr lang="en-GB" i="1" dirty="0"/>
            </a:br>
            <a:br>
              <a:rPr lang="en-GB" i="1" dirty="0"/>
            </a:br>
            <a:br>
              <a:rPr lang="en-GB" i="1" dirty="0"/>
            </a:br>
            <a:br>
              <a:rPr lang="en-GB" i="1" dirty="0"/>
            </a:br>
            <a:br>
              <a:rPr lang="en-GB" i="1" dirty="0"/>
            </a:br>
            <a:br>
              <a:rPr lang="en-GB" i="1" dirty="0"/>
            </a:br>
            <a:r>
              <a:rPr lang="en-GB" i="1" dirty="0"/>
              <a:t>Overall Transformer Architecture, detailing Encoder and Decoder stacks with their respective sub-layers and data flow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C19FF9-D990-B9C9-0C42-1178F0056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110" y="193329"/>
            <a:ext cx="4658628" cy="64630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EF4DF6-04DE-AF2C-E74A-7F4F5CA01902}"/>
              </a:ext>
            </a:extLst>
          </p:cNvPr>
          <p:cNvSpPr txBox="1"/>
          <p:nvPr/>
        </p:nvSpPr>
        <p:spPr>
          <a:xfrm>
            <a:off x="5074920" y="6382512"/>
            <a:ext cx="1298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 Like AI</a:t>
            </a:r>
          </a:p>
        </p:txBody>
      </p:sp>
      <p:pic>
        <p:nvPicPr>
          <p:cNvPr id="9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388436A2-A1B6-3CC2-6A66-797499553CB5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662738" y="1"/>
            <a:ext cx="3452744" cy="51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071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53CC-6429-7791-4D1D-6D6E4AC2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6C57-3DDF-39B1-36E7-11428457BC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Step 1: Input Embedding</a:t>
            </a:r>
          </a:p>
          <a:p>
            <a:r>
              <a:rPr lang="en-GB" dirty="0"/>
              <a:t>Words are converted into vectors.</a:t>
            </a:r>
          </a:p>
          <a:p>
            <a:r>
              <a:rPr lang="en-GB" dirty="0"/>
              <a:t>Example: “</a:t>
            </a:r>
            <a:r>
              <a:rPr lang="en-GB" dirty="0">
                <a:solidFill>
                  <a:srgbClr val="FF0000"/>
                </a:solidFill>
              </a:rPr>
              <a:t>I like AI</a:t>
            </a:r>
            <a:r>
              <a:rPr lang="en-GB" dirty="0"/>
              <a:t>” → </a:t>
            </a:r>
            <a:r>
              <a:rPr lang="en-GB" dirty="0">
                <a:solidFill>
                  <a:srgbClr val="FF0000"/>
                </a:solidFill>
              </a:rPr>
              <a:t>numerical representations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Step 2: Positional Encoding</a:t>
            </a:r>
          </a:p>
          <a:p>
            <a:r>
              <a:rPr lang="en-GB" dirty="0"/>
              <a:t>Since transformers process </a:t>
            </a:r>
            <a:r>
              <a:rPr lang="en-GB" dirty="0">
                <a:solidFill>
                  <a:srgbClr val="FF0000"/>
                </a:solidFill>
              </a:rPr>
              <a:t>words in parallel</a:t>
            </a:r>
            <a:r>
              <a:rPr lang="en-GB" dirty="0"/>
              <a:t>, they </a:t>
            </a:r>
            <a:r>
              <a:rPr lang="en-GB" dirty="0">
                <a:solidFill>
                  <a:srgbClr val="FF0000"/>
                </a:solidFill>
              </a:rPr>
              <a:t>don’t automatically know word order</a:t>
            </a:r>
            <a:r>
              <a:rPr lang="en-GB" dirty="0"/>
              <a:t>.</a:t>
            </a:r>
          </a:p>
          <a:p>
            <a:r>
              <a:rPr lang="en-GB" dirty="0"/>
              <a:t>Positional encoding adds </a:t>
            </a:r>
            <a:r>
              <a:rPr lang="en-GB" dirty="0">
                <a:solidFill>
                  <a:srgbClr val="FF0000"/>
                </a:solidFill>
              </a:rPr>
              <a:t>position information </a:t>
            </a:r>
            <a:r>
              <a:rPr lang="en-GB" dirty="0"/>
              <a:t>to each word embedding.</a:t>
            </a:r>
          </a:p>
          <a:p>
            <a:r>
              <a:rPr lang="en-GB" dirty="0"/>
              <a:t>So now each word vector </a:t>
            </a:r>
            <a:r>
              <a:rPr lang="en-GB" dirty="0" err="1"/>
              <a:t>contains:</a:t>
            </a:r>
            <a:r>
              <a:rPr lang="en-GB" dirty="0" err="1">
                <a:solidFill>
                  <a:srgbClr val="FF0000"/>
                </a:solidFill>
              </a:rPr>
              <a:t>Word</a:t>
            </a:r>
            <a:r>
              <a:rPr lang="en-GB" dirty="0">
                <a:solidFill>
                  <a:srgbClr val="FF0000"/>
                </a:solidFill>
              </a:rPr>
              <a:t> meaning + Position in sentence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6518530D-51AE-D77D-BA5A-DE612EE3F89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39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D9584-4FBF-97A1-7128-3DB5D8020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BB41-28A7-9A5C-71F2-F4CFDBAAC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6464"/>
            <a:ext cx="10683240" cy="47504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Step 3: Repeated Encoder Layers (</a:t>
            </a:r>
            <a:r>
              <a:rPr lang="en-GB" b="1" dirty="0" err="1">
                <a:solidFill>
                  <a:srgbClr val="FF0000"/>
                </a:solidFill>
              </a:rPr>
              <a:t>Nx</a:t>
            </a:r>
            <a:r>
              <a:rPr lang="en-GB" b="1" dirty="0">
                <a:solidFill>
                  <a:srgbClr val="FF0000"/>
                </a:solidFill>
              </a:rPr>
              <a:t>)</a:t>
            </a:r>
          </a:p>
          <a:p>
            <a:r>
              <a:rPr lang="en-GB" dirty="0"/>
              <a:t>Each encoder layer contains: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(A) Multi-Head Self-Attention</a:t>
            </a:r>
          </a:p>
          <a:p>
            <a:r>
              <a:rPr lang="en-GB" dirty="0"/>
              <a:t>Each word looks at </a:t>
            </a:r>
            <a:r>
              <a:rPr lang="en-GB" b="1" dirty="0"/>
              <a:t>all other words</a:t>
            </a:r>
            <a:r>
              <a:rPr lang="en-GB" dirty="0"/>
              <a:t> in the sentence.</a:t>
            </a:r>
          </a:p>
          <a:p>
            <a:r>
              <a:rPr lang="en-GB" dirty="0"/>
              <a:t>It learns which words are important to each other.</a:t>
            </a:r>
          </a:p>
          <a:p>
            <a:r>
              <a:rPr lang="en-GB" dirty="0"/>
              <a:t>“Multi-head” means it looks at relationships in multiple different ways.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(B) Add &amp; Norm</a:t>
            </a:r>
          </a:p>
          <a:p>
            <a:r>
              <a:rPr lang="en-GB" dirty="0"/>
              <a:t>A </a:t>
            </a:r>
            <a:r>
              <a:rPr lang="en-GB" b="1" dirty="0">
                <a:solidFill>
                  <a:srgbClr val="FF0000"/>
                </a:solidFill>
              </a:rPr>
              <a:t>residual connection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(adds input back to output).</a:t>
            </a:r>
          </a:p>
          <a:p>
            <a:r>
              <a:rPr lang="en-GB" dirty="0"/>
              <a:t>Followed by </a:t>
            </a:r>
            <a:r>
              <a:rPr lang="en-GB" b="1" dirty="0">
                <a:solidFill>
                  <a:srgbClr val="FF0000"/>
                </a:solidFill>
              </a:rPr>
              <a:t>Layer Normalization</a:t>
            </a:r>
            <a:r>
              <a:rPr lang="en-GB" dirty="0"/>
              <a:t>.</a:t>
            </a:r>
          </a:p>
          <a:p>
            <a:r>
              <a:rPr lang="en-GB" dirty="0"/>
              <a:t>Helps stabilize training.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C2BE07AC-8961-70FD-4DBA-167C34D6D5E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3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B491-C2C8-801F-D7D3-3ADB9607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F0B2-0296-F512-3953-CEB96550B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(C) Feed Forward Network</a:t>
            </a:r>
          </a:p>
          <a:p>
            <a:r>
              <a:rPr lang="en-GB" dirty="0"/>
              <a:t>A small fully connected neural network.</a:t>
            </a:r>
          </a:p>
          <a:p>
            <a:r>
              <a:rPr lang="en-GB" dirty="0"/>
              <a:t>Applied to each position separately.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(D) Add &amp; Norm again</a:t>
            </a:r>
          </a:p>
          <a:p>
            <a:r>
              <a:rPr lang="en-GB" dirty="0"/>
              <a:t>This whole block is repeated </a:t>
            </a:r>
            <a:r>
              <a:rPr lang="en-GB" b="1" dirty="0"/>
              <a:t>N times</a:t>
            </a:r>
            <a:r>
              <a:rPr lang="en-GB" dirty="0"/>
              <a:t>.</a:t>
            </a:r>
          </a:p>
          <a:p>
            <a:r>
              <a:rPr lang="en-GB" dirty="0">
                <a:solidFill>
                  <a:srgbClr val="FF0000"/>
                </a:solidFill>
              </a:rPr>
              <a:t>➡ Final output = contextual representation of the entire input sentence.</a:t>
            </a:r>
          </a:p>
          <a:p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CB2B4169-E2B1-DB7E-2895-697E67A4BD2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F73B7-C5FA-6178-2B3A-DAC1DBB9C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Explanation (Decoder)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EB843-B2D1-FF11-A061-EB5C6EC50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2. Decoder (Right Side)</a:t>
            </a:r>
          </a:p>
          <a:p>
            <a:r>
              <a:rPr lang="en-GB" dirty="0"/>
              <a:t>The decoder generates output </a:t>
            </a:r>
            <a:r>
              <a:rPr lang="en-GB" b="1" dirty="0"/>
              <a:t>one word at a time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Step 1: Output Embedding (Shifted Right)</a:t>
            </a:r>
          </a:p>
          <a:p>
            <a:r>
              <a:rPr lang="en-GB" dirty="0"/>
              <a:t>The decoder takes:</a:t>
            </a:r>
          </a:p>
          <a:p>
            <a:r>
              <a:rPr lang="en-GB" dirty="0"/>
              <a:t>Previously generated words</a:t>
            </a:r>
          </a:p>
          <a:p>
            <a:r>
              <a:rPr lang="en-GB" dirty="0"/>
              <a:t>Shifted right (so it predicts the next word)</a:t>
            </a:r>
          </a:p>
          <a:p>
            <a:r>
              <a:rPr lang="en-GB" dirty="0"/>
              <a:t>Example during training: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Input:  &lt;start&gt; Comment ça va ?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Target: Comment ça va ? &lt;end&gt;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A963E51D-FC65-6F2E-7603-4E6E6FB4CA1B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722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1C73-F58F-0E24-8D18-84F7CE6C2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Explanation (Decoder)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6592E-3A80-FD8B-04A9-1E9793BC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Step 2: Positional Encoding</a:t>
            </a:r>
          </a:p>
          <a:p>
            <a:r>
              <a:rPr lang="en-GB" dirty="0"/>
              <a:t>Same as encoder — adds order information.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Step 3: Decoder Layers (</a:t>
            </a:r>
            <a:r>
              <a:rPr lang="en-GB" b="1" dirty="0" err="1">
                <a:solidFill>
                  <a:srgbClr val="FF0000"/>
                </a:solidFill>
              </a:rPr>
              <a:t>Nx</a:t>
            </a:r>
            <a:r>
              <a:rPr lang="en-GB" b="1" dirty="0">
                <a:solidFill>
                  <a:srgbClr val="FF0000"/>
                </a:solidFill>
              </a:rPr>
              <a:t>)</a:t>
            </a:r>
          </a:p>
          <a:p>
            <a:r>
              <a:rPr lang="en-GB" dirty="0"/>
              <a:t>Each decoder layer has </a:t>
            </a:r>
            <a:r>
              <a:rPr lang="en-GB" b="1" dirty="0"/>
              <a:t>three main parts</a:t>
            </a:r>
            <a:r>
              <a:rPr lang="en-GB" dirty="0"/>
              <a:t>:</a:t>
            </a:r>
          </a:p>
          <a:p>
            <a:pPr marL="0" indent="0">
              <a:buNone/>
            </a:pPr>
            <a:r>
              <a:rPr lang="en-GB" b="1" dirty="0"/>
              <a:t>(A) Masked Multi-Head Self-Attention</a:t>
            </a:r>
          </a:p>
          <a:p>
            <a:r>
              <a:rPr lang="en-GB" dirty="0"/>
              <a:t>Similar to encoder self-attention.</a:t>
            </a:r>
          </a:p>
          <a:p>
            <a:r>
              <a:rPr lang="en-GB" dirty="0"/>
              <a:t>But </a:t>
            </a:r>
            <a:r>
              <a:rPr lang="en-GB" dirty="0">
                <a:solidFill>
                  <a:srgbClr val="FF0000"/>
                </a:solidFill>
              </a:rPr>
              <a:t>masked so it </a:t>
            </a:r>
            <a:r>
              <a:rPr lang="en-GB" b="1" dirty="0">
                <a:solidFill>
                  <a:srgbClr val="FF0000"/>
                </a:solidFill>
              </a:rPr>
              <a:t>cannot see future words</a:t>
            </a:r>
            <a:r>
              <a:rPr lang="en-GB" dirty="0"/>
              <a:t>.</a:t>
            </a:r>
          </a:p>
          <a:p>
            <a:r>
              <a:rPr lang="en-GB" dirty="0"/>
              <a:t>This prevents cheating during training.</a:t>
            </a:r>
          </a:p>
          <a:p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A0D18CB1-06C0-AB52-9360-6216EBAF539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18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34384-D79D-0D81-10C1-F9DCCCA04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Explanation (Decoder)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84965-EC02-C291-811A-AA5F4FFDA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</a:rPr>
              <a:t>(B) Encoder–Decoder Attention</a:t>
            </a:r>
          </a:p>
          <a:p>
            <a:r>
              <a:rPr lang="en-GB" dirty="0"/>
              <a:t>This is very important.</a:t>
            </a:r>
          </a:p>
          <a:p>
            <a:r>
              <a:rPr lang="en-GB" dirty="0"/>
              <a:t>The decoder looks at:</a:t>
            </a:r>
          </a:p>
          <a:p>
            <a:pPr lvl="1"/>
            <a:r>
              <a:rPr lang="en-GB" dirty="0"/>
              <a:t>Its own previous words</a:t>
            </a:r>
          </a:p>
          <a:p>
            <a:pPr lvl="1"/>
            <a:r>
              <a:rPr lang="en-GB" dirty="0"/>
              <a:t>The encoder’s output</a:t>
            </a:r>
          </a:p>
          <a:p>
            <a:r>
              <a:rPr lang="en-GB" dirty="0"/>
              <a:t>This allows the decoder to focus on relevant input words when generating output.</a:t>
            </a:r>
          </a:p>
          <a:p>
            <a:r>
              <a:rPr lang="en-GB" dirty="0"/>
              <a:t>Example:</a:t>
            </a:r>
            <a:br>
              <a:rPr lang="en-GB" dirty="0"/>
            </a:br>
            <a:r>
              <a:rPr lang="en-GB" dirty="0"/>
              <a:t>When generating </a:t>
            </a:r>
            <a:r>
              <a:rPr lang="en-GB" dirty="0">
                <a:solidFill>
                  <a:srgbClr val="FF0000"/>
                </a:solidFill>
              </a:rPr>
              <a:t>“</a:t>
            </a:r>
            <a:r>
              <a:rPr lang="en-GB" dirty="0" err="1">
                <a:solidFill>
                  <a:srgbClr val="FF0000"/>
                </a:solidFill>
              </a:rPr>
              <a:t>va</a:t>
            </a:r>
            <a:r>
              <a:rPr lang="en-GB" dirty="0">
                <a:solidFill>
                  <a:srgbClr val="FF0000"/>
                </a:solidFill>
              </a:rPr>
              <a:t>”, it may focus strongly on “are”.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589704DB-BD4A-7273-A80E-5A176D067D9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22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663A6-D90D-8BDF-6D1F-AB5DF4B8C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Explanation (Decoder)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54BA4-1A1B-2F6F-28A3-0BCE9577C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(C) Feed Forward Network</a:t>
            </a:r>
          </a:p>
          <a:p>
            <a:r>
              <a:rPr lang="en-GB" dirty="0"/>
              <a:t>Same as encoder.</a:t>
            </a:r>
          </a:p>
          <a:p>
            <a:r>
              <a:rPr lang="en-GB" dirty="0"/>
              <a:t>Each sublayer is followed by </a:t>
            </a:r>
            <a:r>
              <a:rPr lang="en-GB" b="1" dirty="0"/>
              <a:t>Add &amp; Norm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A1B789FD-297B-83D7-AA64-6BAAA97BD26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05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55BFB-1001-7021-84D4-6A0953BC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Final Output Layer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544C4-A208-A0CE-E99E-8B4B59834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After decoder layers:</a:t>
            </a:r>
          </a:p>
          <a:p>
            <a:r>
              <a:rPr lang="en-GB" b="1" dirty="0">
                <a:solidFill>
                  <a:srgbClr val="FF0000"/>
                </a:solidFill>
              </a:rPr>
              <a:t>Linear Layer</a:t>
            </a:r>
          </a:p>
          <a:p>
            <a:r>
              <a:rPr lang="en-GB" dirty="0"/>
              <a:t>Converts decoder output into vocabulary size.</a:t>
            </a:r>
          </a:p>
          <a:p>
            <a:r>
              <a:rPr lang="en-GB" b="1" dirty="0" err="1">
                <a:solidFill>
                  <a:srgbClr val="FF0000"/>
                </a:solidFill>
              </a:rPr>
              <a:t>Softmax</a:t>
            </a:r>
            <a:endParaRPr lang="en-GB" b="1" dirty="0">
              <a:solidFill>
                <a:srgbClr val="FF0000"/>
              </a:solidFill>
            </a:endParaRPr>
          </a:p>
          <a:p>
            <a:r>
              <a:rPr lang="en-GB" dirty="0"/>
              <a:t>Converts scores into probabilities.</a:t>
            </a:r>
          </a:p>
          <a:p>
            <a:pPr marL="0" indent="0">
              <a:buNone/>
            </a:pPr>
            <a:r>
              <a:rPr lang="fr-FR" dirty="0"/>
              <a:t>"Comment" → 0.70</a:t>
            </a:r>
          </a:p>
          <a:p>
            <a:pPr marL="0" indent="0">
              <a:buNone/>
            </a:pPr>
            <a:r>
              <a:rPr lang="fr-FR" dirty="0"/>
              <a:t>"Bonjour" → 0.10</a:t>
            </a:r>
          </a:p>
          <a:p>
            <a:pPr marL="0" indent="0">
              <a:buNone/>
            </a:pPr>
            <a:r>
              <a:rPr lang="fr-FR" dirty="0"/>
              <a:t>"Salut" → 0.05</a:t>
            </a:r>
          </a:p>
          <a:p>
            <a:pPr marL="0" indent="0">
              <a:buNone/>
            </a:pPr>
            <a:r>
              <a:rPr lang="en-GB" dirty="0"/>
              <a:t>Highest probability word is selected.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65949023-2565-B67A-10F0-E2CD027593A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430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2072-A72B-CF8D-DF85-9EBF1890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C3A46-9B42-3A35-BF9C-24D305676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We’ll use a tiny translation example:</a:t>
            </a:r>
          </a:p>
          <a:p>
            <a:r>
              <a:rPr lang="en-GB" dirty="0"/>
              <a:t>Input sentence:</a:t>
            </a:r>
          </a:p>
          <a:p>
            <a:r>
              <a:rPr lang="en-GB" b="1" dirty="0"/>
              <a:t>“</a:t>
            </a:r>
            <a:r>
              <a:rPr lang="en-GB" b="1" dirty="0">
                <a:solidFill>
                  <a:srgbClr val="FF0000"/>
                </a:solidFill>
              </a:rPr>
              <a:t>Hello</a:t>
            </a:r>
            <a:r>
              <a:rPr lang="en-GB" b="1" dirty="0"/>
              <a:t>”</a:t>
            </a:r>
            <a:endParaRPr lang="en-GB" dirty="0"/>
          </a:p>
          <a:p>
            <a:r>
              <a:rPr lang="en-GB" dirty="0"/>
              <a:t>Target output:</a:t>
            </a:r>
          </a:p>
          <a:p>
            <a:r>
              <a:rPr lang="en-GB" b="1" dirty="0"/>
              <a:t>“</a:t>
            </a:r>
            <a:r>
              <a:rPr lang="en-GB" b="1" dirty="0">
                <a:solidFill>
                  <a:srgbClr val="FF0000"/>
                </a:solidFill>
              </a:rPr>
              <a:t>Bonjour</a:t>
            </a:r>
            <a:r>
              <a:rPr lang="en-GB" b="1" dirty="0"/>
              <a:t>”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EED4718F-E559-F027-B775-4C913BA4155A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42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72287-5ED7-CFE1-9404-234097D25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EAFC5-EFE8-1C86-7AEA-9D48908E2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ENCODER SIDE</a:t>
            </a:r>
          </a:p>
          <a:p>
            <a:pPr marL="0" indent="0">
              <a:buNone/>
            </a:pPr>
            <a:r>
              <a:rPr lang="en-GB" dirty="0"/>
              <a:t>1️⃣ Input Embedding</a:t>
            </a:r>
          </a:p>
          <a:p>
            <a:pPr marL="0" indent="0">
              <a:buNone/>
            </a:pPr>
            <a:r>
              <a:rPr lang="en-GB" dirty="0"/>
              <a:t>The word: </a:t>
            </a:r>
            <a:r>
              <a:rPr lang="en-GB" dirty="0">
                <a:solidFill>
                  <a:srgbClr val="FF0000"/>
                </a:solidFill>
              </a:rPr>
              <a:t>Hello</a:t>
            </a:r>
            <a:r>
              <a:rPr lang="en-GB" dirty="0"/>
              <a:t> is converted into a </a:t>
            </a:r>
            <a:r>
              <a:rPr lang="en-GB" dirty="0">
                <a:solidFill>
                  <a:srgbClr val="FF0000"/>
                </a:solidFill>
              </a:rPr>
              <a:t>numerical vector:[0.21, -0.44, 0.90, ...]</a:t>
            </a:r>
          </a:p>
          <a:p>
            <a:pPr marL="0" indent="0">
              <a:buNone/>
            </a:pPr>
            <a:r>
              <a:rPr lang="en-GB" dirty="0"/>
              <a:t>This vector represents the meaning of the word in high-dimensional space.</a:t>
            </a:r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3EA35EBD-B8FE-9398-0D6A-DA733F8982F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84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08E01-EEF3-61A5-9FE5-78EC59AC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A0C57-1CBA-9419-82D4-0182A8154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2️⃣ Positional Encoding</a:t>
            </a:r>
          </a:p>
          <a:p>
            <a:r>
              <a:rPr lang="en-GB" dirty="0"/>
              <a:t>Since transformers don’t know word order automatically, we add position information.</a:t>
            </a:r>
          </a:p>
          <a:p>
            <a:pPr marL="0" indent="0">
              <a:buNone/>
            </a:pPr>
            <a:r>
              <a:rPr lang="en-GB" dirty="0"/>
              <a:t>Because "</a:t>
            </a:r>
            <a:r>
              <a:rPr lang="en-GB" dirty="0">
                <a:solidFill>
                  <a:srgbClr val="FF0000"/>
                </a:solidFill>
              </a:rPr>
              <a:t>Hello</a:t>
            </a:r>
            <a:r>
              <a:rPr lang="en-GB" dirty="0"/>
              <a:t>" is the first word:</a:t>
            </a:r>
          </a:p>
          <a:p>
            <a:r>
              <a:rPr lang="en-GB" dirty="0"/>
              <a:t>Now the model knows:</a:t>
            </a:r>
          </a:p>
          <a:p>
            <a:r>
              <a:rPr lang="en-GB" dirty="0"/>
              <a:t>What the word means</a:t>
            </a:r>
          </a:p>
          <a:p>
            <a:r>
              <a:rPr lang="en-GB" dirty="0"/>
              <a:t>Where it appears</a:t>
            </a:r>
          </a:p>
          <a:p>
            <a:pPr marL="0" indent="0">
              <a:buNone/>
            </a:pP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6F890FDE-C4DE-6AE1-7CEE-3C96156F962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42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EF3E0-C3D3-9B58-14E3-DABB3726B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0F2F0-68C7-084D-1CBD-BD849AC1A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3️⃣ Multi-Head Self-Attention (Encoder)</a:t>
            </a:r>
          </a:p>
          <a:p>
            <a:pPr marL="0" indent="0">
              <a:buNone/>
            </a:pPr>
            <a:r>
              <a:rPr lang="en-GB" dirty="0"/>
              <a:t>Because we only have one word:</a:t>
            </a:r>
          </a:p>
          <a:p>
            <a:r>
              <a:rPr lang="en-GB" dirty="0"/>
              <a:t>It attends to </a:t>
            </a:r>
            <a:r>
              <a:rPr lang="en-GB" b="1" dirty="0"/>
              <a:t>itself</a:t>
            </a:r>
            <a:endParaRPr lang="en-GB" dirty="0"/>
          </a:p>
          <a:p>
            <a:r>
              <a:rPr lang="en-GB" dirty="0"/>
              <a:t>Attention weight = 1</a:t>
            </a:r>
          </a:p>
          <a:p>
            <a:r>
              <a:rPr lang="en-GB" dirty="0"/>
              <a:t>In longer sentences, it would compare itself to all other words.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Output:</a:t>
            </a:r>
          </a:p>
          <a:p>
            <a:pPr marL="0" indent="0">
              <a:buNone/>
            </a:pPr>
            <a:r>
              <a:rPr lang="en-GB" dirty="0"/>
              <a:t>Context-aware representation of "Hello"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13F7E945-B857-EE00-BE97-3E8C63E757A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76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8D11B-9F0D-1A00-370B-0BF8DF5F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3B0C3-1875-A420-BBE8-2F38C45BC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B9EEA-E729-FB8D-4CAD-10A7518C2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4️⃣ Add &amp; Norm</a:t>
            </a:r>
          </a:p>
          <a:p>
            <a:r>
              <a:rPr lang="en-GB" dirty="0"/>
              <a:t>Original input is added back (residual connection)</a:t>
            </a:r>
          </a:p>
          <a:p>
            <a:r>
              <a:rPr lang="en-GB" dirty="0"/>
              <a:t>Then normalized</a:t>
            </a:r>
          </a:p>
          <a:p>
            <a:pPr marL="0" indent="0">
              <a:buNone/>
            </a:pPr>
            <a:r>
              <a:rPr lang="en-GB" b="1" dirty="0"/>
              <a:t>Purpose:</a:t>
            </a:r>
          </a:p>
          <a:p>
            <a:r>
              <a:rPr lang="en-GB" dirty="0"/>
              <a:t>Stabilizes training</a:t>
            </a:r>
          </a:p>
          <a:p>
            <a:r>
              <a:rPr lang="en-GB" dirty="0"/>
              <a:t>Prevents information loss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05B2FAA1-7AA8-BAAF-0F92-23607B3489A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92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C0F0-3A2C-A2A1-7A8B-372B927D3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F27-EA81-82C5-AF78-304B0EE3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E4161-C987-E212-117A-C4CBA29C2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5️⃣ Feed Forward Network</a:t>
            </a:r>
          </a:p>
          <a:p>
            <a:r>
              <a:rPr lang="en-GB" dirty="0"/>
              <a:t>A small neural network processes the vector:</a:t>
            </a:r>
          </a:p>
          <a:p>
            <a:pPr marL="0" indent="0">
              <a:buNone/>
            </a:pPr>
            <a:r>
              <a:rPr lang="en-GB" b="1" dirty="0"/>
              <a:t>Linear → </a:t>
            </a:r>
            <a:r>
              <a:rPr lang="en-GB" b="1" dirty="0" err="1"/>
              <a:t>ReLU</a:t>
            </a:r>
            <a:r>
              <a:rPr lang="en-GB" b="1" dirty="0"/>
              <a:t> → Linear</a:t>
            </a:r>
          </a:p>
          <a:p>
            <a:pPr marL="0" indent="0">
              <a:buNone/>
            </a:pPr>
            <a:r>
              <a:rPr lang="en-GB" dirty="0"/>
              <a:t>This transforms the representation into a richer one.</a:t>
            </a:r>
            <a:endParaRPr lang="en-GB" b="1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F8252466-631C-3D70-B3B4-0BE0D6A9A91F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705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2E20-1F85-CD09-1213-6EDCFE7BE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F2E23-9D5A-AC90-0241-D5541F5E6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6️⃣ Add &amp; Norm (Again)</a:t>
            </a:r>
          </a:p>
          <a:p>
            <a:r>
              <a:rPr lang="en-GB" dirty="0"/>
              <a:t>Another residual + normalization step.</a:t>
            </a:r>
          </a:p>
          <a:p>
            <a:r>
              <a:rPr lang="en-GB" dirty="0"/>
              <a:t>Now we have the </a:t>
            </a:r>
            <a:r>
              <a:rPr lang="en-GB" b="1" dirty="0"/>
              <a:t>final encoder output representation</a:t>
            </a:r>
            <a:r>
              <a:rPr lang="en-GB" dirty="0"/>
              <a:t> of "Hello".</a:t>
            </a:r>
          </a:p>
          <a:p>
            <a:r>
              <a:rPr lang="en-GB" dirty="0"/>
              <a:t>This is passed to the decoder.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5276A95E-7BB9-C899-E18A-B9A30143324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37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3A2E-4B7B-7058-F9C5-90B6242C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568C3-2D40-82CB-B064-36C8E4CCC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🟢 DECODER SIDE</a:t>
            </a:r>
          </a:p>
          <a:p>
            <a:r>
              <a:rPr lang="en-GB" dirty="0"/>
              <a:t>The decoder generates output word by word.</a:t>
            </a:r>
          </a:p>
          <a:p>
            <a:pPr marL="0" indent="0">
              <a:buNone/>
            </a:pPr>
            <a:r>
              <a:rPr lang="en-GB" b="1" dirty="0"/>
              <a:t>7️⃣ Output Embedding (Shifted Right)</a:t>
            </a:r>
          </a:p>
          <a:p>
            <a:r>
              <a:rPr lang="en-GB" dirty="0"/>
              <a:t>During training, the decoder receives: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&lt;START&gt;</a:t>
            </a:r>
          </a:p>
          <a:p>
            <a:r>
              <a:rPr lang="en-GB" dirty="0"/>
              <a:t>At inference time, it also starts with a start token.</a:t>
            </a:r>
          </a:p>
          <a:p>
            <a:r>
              <a:rPr lang="en-GB" dirty="0"/>
              <a:t>This token is embedded into a vector.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A89F14E4-D73B-4341-23AF-CDD4EBC841B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49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6577D-BED6-12AE-E391-F569DD65E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EB55-60E8-A87E-E189-08D554A31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CB010-70A6-D295-53F1-E08870891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🟢 DECODER SIDE</a:t>
            </a:r>
          </a:p>
          <a:p>
            <a:r>
              <a:rPr lang="en-GB" b="1" dirty="0"/>
              <a:t>8️⃣ Positional Encoding (Decoder)</a:t>
            </a:r>
          </a:p>
          <a:p>
            <a:r>
              <a:rPr lang="en-GB" dirty="0"/>
              <a:t>Adds position information to the start token.</a:t>
            </a:r>
          </a:p>
          <a:p>
            <a:pPr marL="0" indent="0">
              <a:buNone/>
            </a:pPr>
            <a:r>
              <a:rPr lang="en-GB" b="1" dirty="0"/>
              <a:t>9️⃣ Masked Multi-Head Self-Attention</a:t>
            </a:r>
          </a:p>
          <a:p>
            <a:r>
              <a:rPr lang="en-GB" dirty="0"/>
              <a:t>Since we only have </a:t>
            </a:r>
            <a:r>
              <a:rPr lang="en-GB" dirty="0">
                <a:solidFill>
                  <a:srgbClr val="FF0000"/>
                </a:solidFill>
              </a:rPr>
              <a:t>&lt;START&gt;:</a:t>
            </a:r>
          </a:p>
          <a:p>
            <a:r>
              <a:rPr lang="en-GB" dirty="0"/>
              <a:t>It attends only to itself.</a:t>
            </a:r>
          </a:p>
          <a:p>
            <a:r>
              <a:rPr lang="en-GB" dirty="0"/>
              <a:t>Mask prevents looking at future words.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B0D66B45-E654-5CF5-B11F-6A1817AE9CA0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8237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6F94-7716-7C42-A9C4-9ACFADC2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E8C70-1765-6D2B-E3D6-FC9F6FE2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3F378-5526-D699-F749-146C36901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🔟 Add &amp; Norm</a:t>
            </a:r>
          </a:p>
          <a:p>
            <a:r>
              <a:rPr lang="en-GB" dirty="0"/>
              <a:t>Residual connection + normalization.</a:t>
            </a:r>
          </a:p>
          <a:p>
            <a:pPr marL="0" indent="0">
              <a:buNone/>
            </a:pPr>
            <a:r>
              <a:rPr lang="en-GB" b="1" dirty="0"/>
              <a:t>1️⃣ Encoder–Decoder Attention</a:t>
            </a:r>
          </a:p>
          <a:p>
            <a:r>
              <a:rPr lang="en-GB" dirty="0"/>
              <a:t>Now the important part:</a:t>
            </a:r>
          </a:p>
          <a:p>
            <a:r>
              <a:rPr lang="en-GB" dirty="0"/>
              <a:t>The decoder looks at:</a:t>
            </a:r>
          </a:p>
          <a:p>
            <a:r>
              <a:rPr lang="en-GB" dirty="0"/>
              <a:t>Its current token (&lt;START&gt;)</a:t>
            </a:r>
          </a:p>
          <a:p>
            <a:r>
              <a:rPr lang="en-GB" dirty="0"/>
              <a:t>The encoder output ("Hello")</a:t>
            </a:r>
          </a:p>
          <a:p>
            <a:r>
              <a:rPr lang="en-GB" dirty="0"/>
              <a:t>It asks:</a:t>
            </a:r>
          </a:p>
          <a:p>
            <a:pPr marL="0" indent="0">
              <a:buNone/>
            </a:pPr>
            <a:r>
              <a:rPr lang="en-GB" dirty="0"/>
              <a:t>"Which input word is relevant for predicting the next word?"</a:t>
            </a:r>
          </a:p>
          <a:p>
            <a:pPr marL="0" indent="0">
              <a:buNone/>
            </a:pPr>
            <a:r>
              <a:rPr lang="en-GB" dirty="0"/>
              <a:t>It attends strongly to the encoded "Hello".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E53E85B4-F8B6-B91E-27EF-2EB2EB1A85D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631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98EB-B4CE-4E86-CA05-CAB22478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9A35C-2D09-30E4-94FF-FC53EA877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1️⃣2️⃣ Add &amp; Norm</a:t>
            </a:r>
          </a:p>
          <a:p>
            <a:r>
              <a:rPr lang="en-GB" dirty="0"/>
              <a:t>Again: residual + normalization.</a:t>
            </a:r>
          </a:p>
          <a:p>
            <a:r>
              <a:rPr lang="en-GB" b="1" dirty="0"/>
              <a:t>1️⃣3️⃣ Feed Forward Network</a:t>
            </a:r>
          </a:p>
          <a:p>
            <a:r>
              <a:rPr lang="en-GB" dirty="0"/>
              <a:t>Processes the vector further.</a:t>
            </a:r>
          </a:p>
          <a:p>
            <a:r>
              <a:rPr lang="en-GB" b="1" dirty="0"/>
              <a:t>1️⃣4️⃣ Add &amp; Norm</a:t>
            </a:r>
          </a:p>
          <a:p>
            <a:r>
              <a:rPr lang="en-GB" dirty="0"/>
              <a:t>Final decoder representation for this time step.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78AFE900-431F-223C-767D-FFA7AE693C58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310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6A46-8512-94F1-86C1-AACD4FAD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74973-AD90-1451-A6A9-30175615F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🔴 Final Output Layer</a:t>
            </a:r>
          </a:p>
          <a:p>
            <a:r>
              <a:rPr lang="en-GB" b="1" dirty="0"/>
              <a:t>1️⃣5️⃣ Linear Layer</a:t>
            </a:r>
          </a:p>
          <a:p>
            <a:r>
              <a:rPr lang="en-GB" dirty="0"/>
              <a:t>Converts decoder output into vocabulary scores:</a:t>
            </a:r>
          </a:p>
          <a:p>
            <a:r>
              <a:rPr lang="en-GB" dirty="0"/>
              <a:t>Example:</a:t>
            </a:r>
          </a:p>
          <a:p>
            <a:pPr marL="0" indent="0">
              <a:buNone/>
            </a:pPr>
            <a:r>
              <a:rPr lang="fr-FR" dirty="0"/>
              <a:t>Bonjour → 3.2</a:t>
            </a:r>
          </a:p>
          <a:p>
            <a:pPr marL="0" indent="0">
              <a:buNone/>
            </a:pPr>
            <a:r>
              <a:rPr lang="fr-FR" dirty="0"/>
              <a:t>Salut   → 1.1</a:t>
            </a:r>
          </a:p>
          <a:p>
            <a:pPr marL="0" indent="0">
              <a:buNone/>
            </a:pPr>
            <a:r>
              <a:rPr lang="fr-FR" dirty="0"/>
              <a:t>Merci   → 0.2</a:t>
            </a: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A31B05BF-B9B9-5E93-07F3-35906ADF98FC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0641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638DC-60B6-9930-6FE3-484C85D7F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9121E-4117-2A0E-1A9C-9CCD1369A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1️⃣6️⃣ </a:t>
            </a:r>
            <a:r>
              <a:rPr lang="en-GB" b="1" dirty="0" err="1"/>
              <a:t>Softmax</a:t>
            </a:r>
            <a:endParaRPr lang="en-GB" b="1" dirty="0"/>
          </a:p>
          <a:p>
            <a:r>
              <a:rPr lang="en-GB" dirty="0"/>
              <a:t>Converts scores into probabilities: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Bonjour → 0.78</a:t>
            </a:r>
          </a:p>
          <a:p>
            <a:pPr marL="0" indent="0">
              <a:buNone/>
            </a:pPr>
            <a:r>
              <a:rPr lang="fr-FR" dirty="0"/>
              <a:t>Salut   → 0.15</a:t>
            </a:r>
          </a:p>
          <a:p>
            <a:pPr marL="0" indent="0">
              <a:buNone/>
            </a:pPr>
            <a:r>
              <a:rPr lang="fr-FR" dirty="0"/>
              <a:t>Merci   → 0.07</a:t>
            </a:r>
          </a:p>
          <a:p>
            <a:pPr marL="0" indent="0">
              <a:buNone/>
            </a:pPr>
            <a:r>
              <a:rPr lang="en-GB" dirty="0"/>
              <a:t>Highest probability:</a:t>
            </a:r>
          </a:p>
          <a:p>
            <a:pPr marL="0" indent="0">
              <a:buNone/>
            </a:pPr>
            <a:r>
              <a:rPr lang="en-GB" dirty="0"/>
              <a:t>"</a:t>
            </a:r>
            <a:r>
              <a:rPr lang="en-GB" dirty="0">
                <a:solidFill>
                  <a:srgbClr val="FF0000"/>
                </a:solidFill>
              </a:rPr>
              <a:t>Bonjour</a:t>
            </a:r>
            <a:r>
              <a:rPr lang="en-GB" dirty="0"/>
              <a:t>"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5F2D26E6-0410-8566-9C8D-9225D4B17A3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74597" y="0"/>
            <a:ext cx="4540885" cy="842645"/>
          </a:xfrm>
          <a:prstGeom prst="rect">
            <a:avLst/>
          </a:prstGeom>
        </p:spPr>
      </p:pic>
      <p:pic>
        <p:nvPicPr>
          <p:cNvPr id="5" name="Image 1" descr="A close-up of a logo  AI-generated content may be incorrect.">
            <a:extLst>
              <a:ext uri="{FF2B5EF4-FFF2-40B4-BE49-F238E27FC236}">
                <a16:creationId xmlns:a16="http://schemas.microsoft.com/office/drawing/2014/main" id="{AC1ED2C5-B94C-C9C9-5BF4-9093E7766A4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26997" y="152400"/>
            <a:ext cx="4540885" cy="8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67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E63ED-0B77-B9BC-8345-C448E54C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AD26B-6A34-1EE7-4C88-E5E45551F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🔁 What Happens Next?</a:t>
            </a:r>
          </a:p>
          <a:p>
            <a:r>
              <a:rPr lang="en-GB" dirty="0"/>
              <a:t>The decoder now feeds:</a:t>
            </a:r>
          </a:p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&lt;START&gt; Bonjour</a:t>
            </a:r>
          </a:p>
          <a:p>
            <a:pPr marL="0" indent="0">
              <a:buNone/>
            </a:pPr>
            <a:r>
              <a:rPr lang="en-GB" dirty="0"/>
              <a:t>back into itself to predict the next word.</a:t>
            </a:r>
          </a:p>
        </p:txBody>
      </p:sp>
    </p:spTree>
    <p:extLst>
      <p:ext uri="{BB962C8B-B14F-4D97-AF65-F5344CB8AC3E}">
        <p14:creationId xmlns:p14="http://schemas.microsoft.com/office/powerpoint/2010/main" val="583909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1256</Words>
  <Application>Microsoft Office PowerPoint</Application>
  <PresentationFormat>Widescreen</PresentationFormat>
  <Paragraphs>192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Architecture and Working of Transformers in Deep Learning </vt:lpstr>
      <vt:lpstr>Definition</vt:lpstr>
      <vt:lpstr>Definition</vt:lpstr>
      <vt:lpstr>Example Sentence</vt:lpstr>
      <vt:lpstr>What are Long-Range Dependencies?</vt:lpstr>
      <vt:lpstr>        Overall Transformer Architecture, detailing Encoder and Decoder stacks with their respective sub-layers and data flow</vt:lpstr>
      <vt:lpstr>Explanation</vt:lpstr>
      <vt:lpstr>Explanation</vt:lpstr>
      <vt:lpstr>Explanation</vt:lpstr>
      <vt:lpstr>Explanation (Decoder)</vt:lpstr>
      <vt:lpstr>Explanation (Decoder)</vt:lpstr>
      <vt:lpstr>Explanation (Decoder)</vt:lpstr>
      <vt:lpstr>Explanation (Decoder)</vt:lpstr>
      <vt:lpstr>Final Output Layer 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Madheswari</dc:creator>
  <cp:lastModifiedBy>K Madheswari</cp:lastModifiedBy>
  <cp:revision>13</cp:revision>
  <dcterms:created xsi:type="dcterms:W3CDTF">2026-02-17T05:27:31Z</dcterms:created>
  <dcterms:modified xsi:type="dcterms:W3CDTF">2026-02-17T06:02:04Z</dcterms:modified>
</cp:coreProperties>
</file>